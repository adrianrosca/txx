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F2328"/>
                </a:solidFill>
                <a:latin typeface="Segoe UI"/>
              </a:rPr>
              <a:t>Hur processen ser ut — och hur den borde se ut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78992"/>
            <a:ext cx="10881360" cy="18288"/>
          </a:xfrm>
          <a:prstGeom prst="rect">
            <a:avLst/>
          </a:prstGeom>
          <a:solidFill>
            <a:srgbClr val="D0D7D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9844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F222E"/>
                </a:solidFill>
                <a:latin typeface="Segoe UI"/>
              </a:rPr>
              <a:t>NU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8404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A7F37"/>
                </a:solidFill>
                <a:latin typeface="Segoe UI"/>
              </a:rPr>
              <a:t>BÄTTRE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3493008"/>
            <a:ext cx="10881360" cy="18288"/>
          </a:xfrm>
          <a:prstGeom prst="rect">
            <a:avLst/>
          </a:prstGeom>
          <a:solidFill>
            <a:srgbClr val="D0D7D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600200" y="1572768"/>
            <a:ext cx="2011680" cy="1371600"/>
          </a:xfrm>
          <a:prstGeom prst="rect">
            <a:avLst/>
          </a:prstGeom>
          <a:solidFill>
            <a:srgbClr val="F6F8FA"/>
          </a:solidFill>
          <a:ln w="1905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00200" y="1920240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F2328"/>
                </a:solidFill>
                <a:latin typeface="Segoe UI"/>
              </a:rPr>
              <a:t>Krav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11880" y="2075688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636E7B"/>
                </a:solidFill>
                <a:latin typeface="Segoe UI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0" y="1572768"/>
            <a:ext cx="2011680" cy="1371600"/>
          </a:xfrm>
          <a:prstGeom prst="rect">
            <a:avLst/>
          </a:prstGeom>
          <a:solidFill>
            <a:srgbClr val="F6F8FA"/>
          </a:solidFill>
          <a:ln w="1905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0" y="1920240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F2328"/>
                </a:solidFill>
                <a:latin typeface="Segoe UI"/>
              </a:rPr>
              <a:t>Design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2075688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636E7B"/>
                </a:solidFill>
                <a:latin typeface="Segoe UI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629400" y="1572768"/>
            <a:ext cx="2011680" cy="1371600"/>
          </a:xfrm>
          <a:prstGeom prst="rect">
            <a:avLst/>
          </a:prstGeom>
          <a:solidFill>
            <a:srgbClr val="F6F8FA"/>
          </a:solidFill>
          <a:ln w="1905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9400" y="1920240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F2328"/>
                </a:solidFill>
                <a:latin typeface="Segoe UI"/>
              </a:rPr>
              <a:t>Utveckling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0" y="2075688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CF222E"/>
                </a:solidFill>
                <a:latin typeface="Segoe UI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0" y="1572768"/>
            <a:ext cx="2011680" cy="1371600"/>
          </a:xfrm>
          <a:prstGeom prst="rect">
            <a:avLst/>
          </a:prstGeom>
          <a:solidFill>
            <a:srgbClr val="FFEBE9"/>
          </a:solidFill>
          <a:ln w="19050">
            <a:solidFill>
              <a:srgbClr val="FF8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0" y="1920240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CF222E"/>
                </a:solidFill>
                <a:latin typeface="Segoe UI"/>
              </a:rPr>
              <a:t>Reaktiv UI/UX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0" y="2322576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36E7B"/>
                </a:solidFill>
                <a:latin typeface="Segoe UI"/>
              </a:rPr>
              <a:t>Efterhandsgranskning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0" y="3054096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CF222E"/>
                </a:solidFill>
                <a:latin typeface="Segoe UI"/>
              </a:rPr>
              <a:t>⚠  UI/UX kommer för sent — dyrt att rätta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600200" y="3931920"/>
            <a:ext cx="2011680" cy="1371600"/>
          </a:xfrm>
          <a:prstGeom prst="rect">
            <a:avLst/>
          </a:prstGeom>
          <a:solidFill>
            <a:srgbClr val="F6F8FA"/>
          </a:solidFill>
          <a:ln w="1905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600200" y="4279392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F2328"/>
                </a:solidFill>
                <a:latin typeface="Segoe UI"/>
              </a:rPr>
              <a:t>Krav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11880" y="4434840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636E7B"/>
                </a:solidFill>
                <a:latin typeface="Segoe UI"/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0" y="3931920"/>
            <a:ext cx="3291840" cy="1371600"/>
          </a:xfrm>
          <a:prstGeom prst="rect">
            <a:avLst/>
          </a:prstGeom>
          <a:solidFill>
            <a:srgbClr val="DFEFFF"/>
          </a:solidFill>
          <a:ln w="25400">
            <a:solidFill>
              <a:srgbClr val="54A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0" y="4224528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969DA"/>
                </a:solidFill>
                <a:latin typeface="Segoe UI"/>
              </a:rPr>
              <a:t>UI/UX  ↔  Design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0" y="4645152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36E7B"/>
                </a:solidFill>
                <a:latin typeface="Segoe UI"/>
              </a:rPr>
              <a:t>Iterativt — innan kod skrivs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06640" y="4434840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A7F37"/>
                </a:solidFill>
                <a:latin typeface="Segoe UI"/>
              </a:rPr>
              <a:t>→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909560" y="3931920"/>
            <a:ext cx="2011680" cy="1371600"/>
          </a:xfrm>
          <a:prstGeom prst="rect">
            <a:avLst/>
          </a:prstGeom>
          <a:solidFill>
            <a:srgbClr val="DCFEE7"/>
          </a:solidFill>
          <a:ln w="19050">
            <a:solidFill>
              <a:srgbClr val="4AC2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9560" y="4279392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A7F37"/>
                </a:solidFill>
                <a:latin typeface="Segoe UI"/>
              </a:rPr>
              <a:t>Utveckling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09560" y="468172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36E7B"/>
                </a:solidFill>
                <a:latin typeface="Segoe UI"/>
              </a:rPr>
              <a:t>Tydlig spec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931920" y="5413248"/>
            <a:ext cx="6035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A7F37"/>
                </a:solidFill>
                <a:latin typeface="Segoe UI"/>
              </a:rPr>
              <a:t>✓  Alla frågor besvarade innan första raden kod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F2328"/>
                </a:solidFill>
                <a:latin typeface="Segoe UI"/>
              </a:rPr>
              <a:t>Ju senare felet hittas,
desto dyrare att rätta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36E7B"/>
                </a:solidFill>
                <a:latin typeface="Segoe UI"/>
              </a:rPr>
              <a:t>En ändring i designfasen kostar bråkdelen av en ändring i kod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74519"/>
            <a:ext cx="10881360" cy="18288"/>
          </a:xfrm>
          <a:prstGeom prst="rect">
            <a:avLst/>
          </a:prstGeom>
          <a:solidFill>
            <a:srgbClr val="D0D7D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4934103"/>
            <a:ext cx="1645920" cy="460857"/>
          </a:xfrm>
          <a:prstGeom prst="rect">
            <a:avLst/>
          </a:prstGeom>
          <a:solidFill>
            <a:srgbClr val="DCFEE7"/>
          </a:solidFill>
          <a:ln w="19050">
            <a:solidFill>
              <a:srgbClr val="4AC2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5025543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1A7F37"/>
                </a:solidFill>
                <a:latin typeface="Segoe UI"/>
              </a:rPr>
              <a:t>1×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48640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F2328"/>
                </a:solidFill>
                <a:latin typeface="Segoe UI"/>
              </a:rPr>
              <a:t>I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779008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36E7B"/>
                </a:solidFill>
                <a:latin typeface="Segoe UI"/>
              </a:rPr>
              <a:t>Flytta en ruta i prototypen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3280" y="3913632"/>
            <a:ext cx="1645920" cy="1481328"/>
          </a:xfrm>
          <a:prstGeom prst="rect">
            <a:avLst/>
          </a:prstGeom>
          <a:solidFill>
            <a:srgbClr val="FFF8C5"/>
          </a:solidFill>
          <a:ln w="19050">
            <a:solidFill>
              <a:srgbClr val="D4A7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4005072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7D4E00"/>
                </a:solidFill>
                <a:latin typeface="Segoe UI"/>
              </a:rPr>
              <a:t>10×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548640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F2328"/>
                </a:solidFill>
                <a:latin typeface="Segoe UI"/>
              </a:rPr>
              <a:t>I kod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5779008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36E7B"/>
                </a:solidFill>
                <a:latin typeface="Segoe UI"/>
              </a:rPr>
              <a:t>Refaktorera komponenter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0" y="2103120"/>
            <a:ext cx="1645920" cy="3291840"/>
          </a:xfrm>
          <a:prstGeom prst="rect">
            <a:avLst/>
          </a:prstGeom>
          <a:solidFill>
            <a:srgbClr val="FFEBE9"/>
          </a:solidFill>
          <a:ln w="19050">
            <a:solidFill>
              <a:srgbClr val="FF8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0" y="21945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CF222E"/>
                </a:solidFill>
                <a:latin typeface="Segoe UI"/>
              </a:rPr>
              <a:t>100×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548640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F2328"/>
                </a:solidFill>
                <a:latin typeface="Segoe UI"/>
              </a:rPr>
              <a:t>I produktion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5779008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36E7B"/>
                </a:solidFill>
                <a:latin typeface="Segoe UI"/>
              </a:rPr>
              <a:t>Felanalys, hotfix, regressionstest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675120" y="2103120"/>
            <a:ext cx="5120640" cy="1024128"/>
          </a:xfrm>
          <a:prstGeom prst="rect">
            <a:avLst/>
          </a:prstGeom>
          <a:solidFill>
            <a:srgbClr val="FFEBE9"/>
          </a:solidFill>
          <a:ln w="19050">
            <a:solidFill>
              <a:srgbClr val="FF8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39712" y="219456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F222E"/>
                </a:solidFill>
                <a:latin typeface="Segoe UI"/>
              </a:rPr>
              <a:t>Utan UX-first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39712" y="2487168"/>
            <a:ext cx="48463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F2328"/>
                </a:solidFill>
                <a:latin typeface="Segoe UI"/>
              </a:rPr>
              <a:t>Utvecklare tolkar vaga krav. Stakeholders ser resultatet och
säger "det var inte det vi menade" — arbetet börjar om.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75120" y="3328416"/>
            <a:ext cx="5120640" cy="1024128"/>
          </a:xfrm>
          <a:prstGeom prst="rect">
            <a:avLst/>
          </a:prstGeom>
          <a:solidFill>
            <a:srgbClr val="FFEBE9"/>
          </a:solidFill>
          <a:ln w="19050">
            <a:solidFill>
              <a:srgbClr val="FF8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39712" y="3419856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F222E"/>
                </a:solidFill>
                <a:latin typeface="Segoe UI"/>
              </a:rPr>
              <a:t>Omarbetning är det största slöseriet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39712" y="3712464"/>
            <a:ext cx="48463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F2328"/>
                </a:solidFill>
                <a:latin typeface="Segoe UI"/>
              </a:rPr>
              <a:t>Kod som kastas kostar mer än kod som aldrig skrivs.
Varje omarbetningssprint är en sprint utan nytt värde.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675120" y="4553712"/>
            <a:ext cx="5120640" cy="1024128"/>
          </a:xfrm>
          <a:prstGeom prst="rect">
            <a:avLst/>
          </a:prstGeom>
          <a:solidFill>
            <a:srgbClr val="DCFEE7"/>
          </a:solidFill>
          <a:ln w="19050">
            <a:solidFill>
              <a:srgbClr val="4AC2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39712" y="4645152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7F37"/>
                </a:solidFill>
                <a:latin typeface="Segoe UI"/>
              </a:rPr>
              <a:t>Lösningen: fånga det i design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39712" y="4937760"/>
            <a:ext cx="48463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F2328"/>
                </a:solidFill>
                <a:latin typeface="Segoe UI"/>
              </a:rPr>
              <a:t>Prototyper är billiga att ändra. En godkänd design innan
kod skrivs eliminerar den dyraste kategorin av fel.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F2328"/>
                </a:solidFill>
                <a:latin typeface="Segoe UI"/>
              </a:rPr>
              <a:t>Vad en godkänd design ger utvecklaren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8755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36E7B"/>
                </a:solidFill>
                <a:latin typeface="Segoe UI"/>
              </a:rPr>
              <a:t>Svaret på alla frågor — innan de ens hinner ställas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10881360" cy="18288"/>
          </a:xfrm>
          <a:prstGeom prst="rect">
            <a:avLst/>
          </a:prstGeom>
          <a:solidFill>
            <a:srgbClr val="D0D7D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572768"/>
            <a:ext cx="5120640" cy="1389888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572768"/>
            <a:ext cx="54864" cy="1389888"/>
          </a:xfrm>
          <a:prstGeom prst="rect">
            <a:avLst/>
          </a:prstGeom>
          <a:solidFill>
            <a:srgbClr val="0969DA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64208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969DA"/>
                </a:solidFill>
                <a:latin typeface="Segoe UI"/>
              </a:rPr>
              <a:t>VISUELLT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892808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2328"/>
                </a:solidFill>
                <a:latin typeface="Segoe UI"/>
              </a:rPr>
              <a:t>Annoterade skärmar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194560"/>
            <a:ext cx="4846320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36E7B"/>
                </a:solidFill>
                <a:latin typeface="Segoe UI"/>
              </a:rPr>
              <a:t>–  Alla skärmar och tillstånd: tom, laddning, fel, ifylld
–  Exakta mått, typsnitt och färger från designsystemet
–  Responsivt beteende specificerat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127248"/>
            <a:ext cx="5120640" cy="1389888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3127248"/>
            <a:ext cx="54864" cy="1389888"/>
          </a:xfrm>
          <a:prstGeom prst="rect">
            <a:avLst/>
          </a:prstGeom>
          <a:solidFill>
            <a:srgbClr val="0969DA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218688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969DA"/>
                </a:solidFill>
                <a:latin typeface="Segoe UI"/>
              </a:rPr>
              <a:t>BETEENDE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447288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2328"/>
                </a:solidFill>
                <a:latin typeface="Segoe UI"/>
              </a:rPr>
              <a:t>Interaktionsspec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749040"/>
            <a:ext cx="4846320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36E7B"/>
                </a:solidFill>
                <a:latin typeface="Segoe UI"/>
              </a:rPr>
              <a:t>–  Vad händer vid varje klick, hover och scroll
–  Felhantering och kantfall definierade
–  Övergångar och laddningstillstånd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4681728"/>
            <a:ext cx="5120640" cy="1389888"/>
          </a:xfrm>
          <a:prstGeom prst="rect">
            <a:avLst/>
          </a:prstGeom>
          <a:solidFill>
            <a:srgbClr val="F6F8FA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4681728"/>
            <a:ext cx="54864" cy="1389888"/>
          </a:xfrm>
          <a:prstGeom prst="rect">
            <a:avLst/>
          </a:prstGeom>
          <a:solidFill>
            <a:srgbClr val="0969DA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773168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969DA"/>
                </a:solidFill>
                <a:latin typeface="Segoe UI"/>
              </a:rPr>
              <a:t>TEKNIK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001768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2328"/>
                </a:solidFill>
                <a:latin typeface="Segoe UI"/>
              </a:rPr>
              <a:t>Datakrav &amp; komponenter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303520"/>
            <a:ext cx="4846320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36E7B"/>
                </a:solidFill>
                <a:latin typeface="Segoe UI"/>
              </a:rPr>
              <a:t>–  Vilka API-anrop skärmen behöver
–  Existerande komponenter som återanvänds
–  Nya komponenter med spec bifogad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1572768"/>
            <a:ext cx="5394960" cy="804672"/>
          </a:xfrm>
          <a:prstGeom prst="rect">
            <a:avLst/>
          </a:prstGeom>
          <a:solidFill>
            <a:srgbClr val="DCFEE7"/>
          </a:solidFill>
          <a:ln w="19050">
            <a:solidFill>
              <a:srgbClr val="4AC2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0" y="1664208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7F37"/>
                </a:solidFill>
                <a:latin typeface="Segoe UI"/>
              </a:rPr>
              <a:t>Utvecklaren kan köra direkt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1975104"/>
            <a:ext cx="5120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F2328"/>
                </a:solidFill>
                <a:latin typeface="Segoe UI"/>
              </a:rPr>
              <a:t>Ingen tid spenderas på att tolka krav eller vänta på svar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0" y="2523744"/>
            <a:ext cx="5394960" cy="804672"/>
          </a:xfrm>
          <a:prstGeom prst="rect">
            <a:avLst/>
          </a:prstGeom>
          <a:solidFill>
            <a:srgbClr val="DCFEE7"/>
          </a:solidFill>
          <a:ln w="19050">
            <a:solidFill>
              <a:srgbClr val="4AC2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0" y="2615184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7F37"/>
                </a:solidFill>
                <a:latin typeface="Segoe UI"/>
              </a:rPr>
              <a:t>Rätt sak byggs första gången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2926080"/>
            <a:ext cx="5120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F2328"/>
                </a:solidFill>
                <a:latin typeface="Segoe UI"/>
              </a:rPr>
              <a:t>Specen är det kontrakt båda parter är överens om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3474720"/>
            <a:ext cx="5394960" cy="804672"/>
          </a:xfrm>
          <a:prstGeom prst="rect">
            <a:avLst/>
          </a:prstGeom>
          <a:solidFill>
            <a:srgbClr val="DCFEE7"/>
          </a:solidFill>
          <a:ln w="19050">
            <a:solidFill>
              <a:srgbClr val="4AC2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0" y="3566160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7F37"/>
                </a:solidFill>
                <a:latin typeface="Segoe UI"/>
              </a:rPr>
              <a:t>Feedback sker i rätt fas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3877056"/>
            <a:ext cx="5120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F2328"/>
                </a:solidFill>
                <a:latin typeface="Segoe UI"/>
              </a:rPr>
              <a:t>Stakeholders granskar prototypen — inte färdig kod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0" y="4425696"/>
            <a:ext cx="5394960" cy="804672"/>
          </a:xfrm>
          <a:prstGeom prst="rect">
            <a:avLst/>
          </a:prstGeom>
          <a:solidFill>
            <a:srgbClr val="DCFEE7"/>
          </a:solidFill>
          <a:ln w="19050">
            <a:solidFill>
              <a:srgbClr val="4AC2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0" y="4517136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7F37"/>
                </a:solidFill>
                <a:latin typeface="Segoe UI"/>
              </a:rPr>
              <a:t>Konsekvent slutresultat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4828032"/>
            <a:ext cx="5120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F2328"/>
                </a:solidFill>
                <a:latin typeface="Segoe UI"/>
              </a:rPr>
              <a:t>Designsystemet följs — inga enskilda tolkningar i koden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5449824"/>
            <a:ext cx="5394960" cy="566928"/>
          </a:xfrm>
          <a:prstGeom prst="rect">
            <a:avLst/>
          </a:prstGeom>
          <a:solidFill>
            <a:srgbClr val="DFEFFF"/>
          </a:solidFill>
          <a:ln w="19050">
            <a:solidFill>
              <a:srgbClr val="54A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83680" y="5541264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969DA"/>
                </a:solidFill>
                <a:latin typeface="Segoe UI"/>
              </a:rPr>
              <a:t>Design är inte en kostnad — det är det billigaste sättet att testa en idé.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